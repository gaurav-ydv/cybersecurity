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59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2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47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985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91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242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0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004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05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11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9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182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2442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290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6857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849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9741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572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ED1064D-F5D0-4CEB-AF84-63E1B5AA9163}" type="datetimeFigureOut">
              <a:rPr lang="en-IN" smtClean="0"/>
              <a:t>10-10-2020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05075F4-450B-4F83-A1E7-5DAA2447C9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066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8778" y="368135"/>
            <a:ext cx="106996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 smtClean="0">
                <a:solidFill>
                  <a:schemeClr val="bg1"/>
                </a:solidFill>
              </a:rPr>
              <a:t>Basic Ideology a behind hacking </a:t>
            </a:r>
            <a:r>
              <a:rPr lang="en-IN" sz="6000" dirty="0">
                <a:solidFill>
                  <a:schemeClr val="bg1"/>
                </a:solidFill>
              </a:rPr>
              <a:t>a</a:t>
            </a:r>
            <a:r>
              <a:rPr lang="en-IN" sz="6000" dirty="0" smtClean="0">
                <a:solidFill>
                  <a:schemeClr val="bg1"/>
                </a:solidFill>
              </a:rPr>
              <a:t> WIFI</a:t>
            </a:r>
            <a:endParaRPr lang="en-IN" sz="6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58151" y="4952011"/>
            <a:ext cx="3633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Gaurav Yadav</a:t>
            </a:r>
          </a:p>
          <a:p>
            <a:endParaRPr lang="en-IN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30" y="2588100"/>
            <a:ext cx="6550948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67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71896" y="641268"/>
            <a:ext cx="1039090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 smtClean="0">
                <a:solidFill>
                  <a:schemeClr val="bg1"/>
                </a:solidFill>
              </a:rPr>
              <a:t>Requirements: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400" dirty="0" smtClean="0">
                <a:solidFill>
                  <a:schemeClr val="bg1"/>
                </a:solidFill>
              </a:rPr>
              <a:t>A good 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400" dirty="0" smtClean="0">
                <a:solidFill>
                  <a:schemeClr val="bg1"/>
                </a:solidFill>
              </a:rPr>
              <a:t>A good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400" dirty="0" smtClean="0">
                <a:solidFill>
                  <a:schemeClr val="bg1"/>
                </a:solidFill>
              </a:rPr>
              <a:t>And finally a client/user connected to that targeted wifi  </a:t>
            </a:r>
            <a:endParaRPr lang="en-IN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31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587" y="425970"/>
            <a:ext cx="8534400" cy="1507067"/>
          </a:xfrm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Let’s start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3138" y="1754908"/>
            <a:ext cx="1041466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 smtClean="0">
              <a:solidFill>
                <a:schemeClr val="bg1"/>
              </a:solidFill>
            </a:endParaRPr>
          </a:p>
          <a:p>
            <a:endParaRPr lang="en-IN" sz="3200" dirty="0" smtClean="0">
              <a:solidFill>
                <a:schemeClr val="bg1"/>
              </a:solidFill>
            </a:endParaRPr>
          </a:p>
          <a:p>
            <a:r>
              <a:rPr lang="en-IN" sz="3200" dirty="0" smtClean="0">
                <a:solidFill>
                  <a:schemeClr val="bg1"/>
                </a:solidFill>
              </a:rPr>
              <a:t>There are two types of attacks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solidFill>
                  <a:schemeClr val="bg1"/>
                </a:solidFill>
              </a:rPr>
              <a:t>Automated Attack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solidFill>
                  <a:schemeClr val="bg1"/>
                </a:solidFill>
              </a:rPr>
              <a:t>Manual Attack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dirty="0" smtClean="0">
                <a:solidFill>
                  <a:schemeClr val="bg1"/>
                </a:solidFill>
              </a:rPr>
              <a:t>As there are many wifi hacking tools are available in market, so you can use any...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 smtClean="0">
              <a:solidFill>
                <a:schemeClr val="bg1"/>
              </a:solidFill>
            </a:endParaRPr>
          </a:p>
          <a:p>
            <a:endParaRPr lang="en-IN" sz="3200" dirty="0" smtClean="0">
              <a:solidFill>
                <a:schemeClr val="bg1"/>
              </a:solidFill>
            </a:endParaRPr>
          </a:p>
          <a:p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</a:endParaRPr>
          </a:p>
          <a:p>
            <a:endParaRPr lang="en-IN" sz="32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75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0632" y="1709494"/>
            <a:ext cx="97852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Monitor Mode : </a:t>
            </a:r>
            <a:r>
              <a:rPr lang="en-IN" dirty="0" smtClean="0">
                <a:solidFill>
                  <a:schemeClr val="bg1"/>
                </a:solidFill>
              </a:rPr>
              <a:t>Allows a computer with a wireless network interface controller (WNIC) to monitor all traffic received on a wireless channel.</a:t>
            </a:r>
          </a:p>
          <a:p>
            <a:endParaRPr lang="en-IN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Wi-Fi Direct Mode : </a:t>
            </a:r>
            <a:r>
              <a:rPr lang="en-IN" dirty="0" smtClean="0">
                <a:solidFill>
                  <a:schemeClr val="bg1"/>
                </a:solidFill>
              </a:rPr>
              <a:t>You </a:t>
            </a:r>
            <a:r>
              <a:rPr lang="en-IN" dirty="0">
                <a:solidFill>
                  <a:schemeClr val="bg1"/>
                </a:solidFill>
              </a:rPr>
              <a:t>can set up </a:t>
            </a:r>
            <a:r>
              <a:rPr lang="en-IN" dirty="0" smtClean="0">
                <a:solidFill>
                  <a:schemeClr val="bg1"/>
                </a:solidFill>
              </a:rPr>
              <a:t>your </a:t>
            </a:r>
            <a:r>
              <a:rPr lang="en-IN" dirty="0">
                <a:solidFill>
                  <a:schemeClr val="bg1"/>
                </a:solidFill>
              </a:rPr>
              <a:t>to communicate directly with </a:t>
            </a:r>
            <a:r>
              <a:rPr lang="en-IN" dirty="0" smtClean="0">
                <a:solidFill>
                  <a:schemeClr val="bg1"/>
                </a:solidFill>
              </a:rPr>
              <a:t>another </a:t>
            </a:r>
            <a:r>
              <a:rPr lang="en-IN" dirty="0">
                <a:solidFill>
                  <a:schemeClr val="bg1"/>
                </a:solidFill>
              </a:rPr>
              <a:t>device without requiring a wireless router or access </a:t>
            </a:r>
            <a:r>
              <a:rPr lang="en-IN" dirty="0" smtClean="0">
                <a:solidFill>
                  <a:schemeClr val="bg1"/>
                </a:solidFill>
              </a:rPr>
              <a:t>point. But it is one to one connection.</a:t>
            </a:r>
          </a:p>
          <a:p>
            <a:r>
              <a:rPr lang="en-IN" b="1" dirty="0" smtClean="0">
                <a:solidFill>
                  <a:schemeClr val="bg1"/>
                </a:solidFill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Repeater Mode(</a:t>
            </a:r>
            <a:r>
              <a:rPr lang="en-IN" dirty="0" smtClean="0">
                <a:solidFill>
                  <a:schemeClr val="bg1"/>
                </a:solidFill>
              </a:rPr>
              <a:t>also </a:t>
            </a:r>
            <a:r>
              <a:rPr lang="en-IN" dirty="0">
                <a:solidFill>
                  <a:schemeClr val="bg1"/>
                </a:solidFill>
              </a:rPr>
              <a:t>called </a:t>
            </a:r>
            <a:r>
              <a:rPr lang="en-IN" b="1" dirty="0">
                <a:solidFill>
                  <a:schemeClr val="bg1"/>
                </a:solidFill>
              </a:rPr>
              <a:t>wireless range extender</a:t>
            </a:r>
            <a:r>
              <a:rPr lang="en-IN" b="1" dirty="0" smtClean="0">
                <a:solidFill>
                  <a:schemeClr val="bg1"/>
                </a:solidFill>
              </a:rPr>
              <a:t>) : </a:t>
            </a:r>
            <a:r>
              <a:rPr lang="en-IN" dirty="0" smtClean="0">
                <a:solidFill>
                  <a:schemeClr val="bg1"/>
                </a:solidFill>
              </a:rPr>
              <a:t>A </a:t>
            </a:r>
            <a:r>
              <a:rPr lang="en-IN" dirty="0">
                <a:solidFill>
                  <a:schemeClr val="bg1"/>
                </a:solidFill>
              </a:rPr>
              <a:t>wireless repeater is a device that takes an existing signal from a wireless router or wireless access point and rebroadcasts it to create a second </a:t>
            </a:r>
            <a:r>
              <a:rPr lang="en-IN" dirty="0" smtClean="0">
                <a:solidFill>
                  <a:schemeClr val="bg1"/>
                </a:solidFill>
              </a:rPr>
              <a:t>network.</a:t>
            </a:r>
            <a:r>
              <a:rPr lang="en-IN" dirty="0"/>
              <a:t> </a:t>
            </a:r>
            <a:r>
              <a:rPr lang="en-IN" dirty="0">
                <a:solidFill>
                  <a:schemeClr val="bg1"/>
                </a:solidFill>
              </a:rPr>
              <a:t>A repeater/extender is very similar to an access point but its job is to simply expand existing router signal coverage over a larger area by using a separate wireless name (SSID</a:t>
            </a:r>
            <a:r>
              <a:rPr lang="en-IN" dirty="0" smtClean="0">
                <a:solidFill>
                  <a:schemeClr val="bg1"/>
                </a:solidFill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Master Mode (acting as an access point) : </a:t>
            </a:r>
            <a:r>
              <a:rPr lang="en-IN" dirty="0" smtClean="0">
                <a:solidFill>
                  <a:schemeClr val="bg1"/>
                </a:solidFill>
              </a:rPr>
              <a:t>A NIC acts as an access point and other nodes can connect to it. It may provide same functionality as that of a router.</a:t>
            </a:r>
            <a:r>
              <a:rPr lang="en-IN" dirty="0"/>
              <a:t> </a:t>
            </a:r>
            <a:r>
              <a:rPr lang="en-IN" dirty="0">
                <a:solidFill>
                  <a:schemeClr val="bg1"/>
                </a:solidFill>
              </a:rPr>
              <a:t>A Wireless Access Point device attaches to your router (or a switch) with an Ethernet cable, and transmits/receives its own signal via in-built </a:t>
            </a:r>
            <a:r>
              <a:rPr lang="en-IN" dirty="0" smtClean="0">
                <a:solidFill>
                  <a:schemeClr val="bg1"/>
                </a:solidFill>
              </a:rPr>
              <a:t>radios.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b="1" dirty="0" smtClean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003" y="142504"/>
            <a:ext cx="116971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smtClean="0">
                <a:solidFill>
                  <a:schemeClr val="bg1"/>
                </a:solidFill>
              </a:rPr>
              <a:t>There are a total of 8 different types of modes of a Network </a:t>
            </a:r>
            <a:r>
              <a:rPr lang="en-IN" sz="4400" b="1" dirty="0">
                <a:solidFill>
                  <a:schemeClr val="bg1"/>
                </a:solidFill>
              </a:rPr>
              <a:t>C</a:t>
            </a:r>
            <a:r>
              <a:rPr lang="en-IN" sz="4400" b="1" dirty="0" smtClean="0">
                <a:solidFill>
                  <a:schemeClr val="bg1"/>
                </a:solidFill>
              </a:rPr>
              <a:t>ard :</a:t>
            </a:r>
          </a:p>
          <a:p>
            <a:r>
              <a:rPr lang="en-IN" sz="4400" b="1" dirty="0" smtClean="0"/>
              <a:t> 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204983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2514" y="1056904"/>
            <a:ext cx="910837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1" dirty="0" smtClean="0">
                <a:solidFill>
                  <a:schemeClr val="bg1"/>
                </a:solidFill>
              </a:rPr>
              <a:t>Managed  Mode(client, also known as station) : </a:t>
            </a:r>
            <a:r>
              <a:rPr lang="en-IN" sz="2000" dirty="0" smtClean="0">
                <a:solidFill>
                  <a:schemeClr val="bg1"/>
                </a:solidFill>
              </a:rPr>
              <a:t>In Managed mode every NIC is connected to an Access Point or Base Station (router etc.)</a:t>
            </a:r>
          </a:p>
          <a:p>
            <a:endParaRPr lang="en-IN" sz="2000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1" dirty="0" smtClean="0">
                <a:solidFill>
                  <a:schemeClr val="bg1"/>
                </a:solidFill>
              </a:rPr>
              <a:t>Ad-Hoc Mode : </a:t>
            </a:r>
            <a:r>
              <a:rPr lang="en-IN" sz="2000" dirty="0" smtClean="0"/>
              <a:t> </a:t>
            </a:r>
            <a:r>
              <a:rPr lang="en-IN" sz="2000" dirty="0" smtClean="0">
                <a:solidFill>
                  <a:schemeClr val="bg1"/>
                </a:solidFill>
              </a:rPr>
              <a:t>The NICs are connected to each other without the presence of any Base Station or Access Point.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000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1" dirty="0" smtClean="0">
                <a:solidFill>
                  <a:schemeClr val="bg1"/>
                </a:solidFill>
              </a:rPr>
              <a:t>Mesh Mode : </a:t>
            </a:r>
            <a:r>
              <a:rPr lang="en-IN" sz="2000" dirty="0" smtClean="0">
                <a:solidFill>
                  <a:schemeClr val="bg1"/>
                </a:solidFill>
              </a:rPr>
              <a:t>A mesh refers to rich interconnection among devices or nodes. It’s mobility is less frequent, so this is a low-mobility centralized form of wireless Ad-Hoc.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0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1" dirty="0" smtClean="0">
                <a:solidFill>
                  <a:schemeClr val="bg1"/>
                </a:solidFill>
              </a:rPr>
              <a:t>TDLS Mode </a:t>
            </a:r>
            <a:r>
              <a:rPr lang="en-IN" sz="2000" dirty="0" smtClean="0">
                <a:solidFill>
                  <a:schemeClr val="bg1"/>
                </a:solidFill>
              </a:rPr>
              <a:t>or </a:t>
            </a:r>
            <a:r>
              <a:rPr lang="en-IN" sz="2000" b="1" dirty="0" smtClean="0">
                <a:solidFill>
                  <a:schemeClr val="bg1"/>
                </a:solidFill>
              </a:rPr>
              <a:t>Tunneled Direct Link Setup </a:t>
            </a:r>
            <a:r>
              <a:rPr lang="en-IN" sz="2000" dirty="0" smtClean="0">
                <a:solidFill>
                  <a:schemeClr val="bg1"/>
                </a:solidFill>
              </a:rPr>
              <a:t>: It’s a </a:t>
            </a:r>
            <a:r>
              <a:rPr lang="en-IN" sz="2000" dirty="0">
                <a:solidFill>
                  <a:schemeClr val="bg1"/>
                </a:solidFill>
              </a:rPr>
              <a:t>seamless way to stream media and other data faster between devices already on the same Wi-Fi network</a:t>
            </a:r>
            <a:endParaRPr lang="en-IN" sz="2000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000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000" b="1" dirty="0" smtClean="0">
              <a:solidFill>
                <a:schemeClr val="bg1"/>
              </a:solidFill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32174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946" y="273131"/>
            <a:ext cx="9457315" cy="902525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What is the Principle?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834" y="2814452"/>
            <a:ext cx="11048610" cy="325383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Data in sent b/w connected devices in form of encrypted packets.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While a device tries to connect to a Wi-Fi it sends the password Info in the form of encrypted packets.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Attacker captures these packets called handshakes.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With the help of the tools attacker extract the password.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53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27512" y="320634"/>
            <a:ext cx="9939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solidFill>
                  <a:schemeClr val="bg1"/>
                </a:solidFill>
              </a:rPr>
              <a:t>What really happens ?</a:t>
            </a:r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55023" y="2905038"/>
            <a:ext cx="11507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 smtClean="0">
                <a:solidFill>
                  <a:schemeClr val="bg1"/>
                </a:solidFill>
              </a:rPr>
              <a:t> Attacker sets the NIC into Monitor Mode.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 smtClean="0">
                <a:solidFill>
                  <a:schemeClr val="bg1"/>
                </a:solidFill>
              </a:rPr>
              <a:t>Searches for Target BSSIDs(Basic Service Set Identifiers i.e. MAC Address)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 smtClean="0">
                <a:solidFill>
                  <a:schemeClr val="bg1"/>
                </a:solidFill>
              </a:rPr>
              <a:t>Chooses one </a:t>
            </a:r>
            <a:r>
              <a:rPr lang="en-IN" sz="2400" dirty="0" smtClean="0">
                <a:solidFill>
                  <a:schemeClr val="bg1"/>
                </a:solidFill>
              </a:rPr>
              <a:t>of the </a:t>
            </a:r>
            <a:r>
              <a:rPr lang="en-IN" sz="2400" dirty="0" smtClean="0">
                <a:solidFill>
                  <a:schemeClr val="bg1"/>
                </a:solidFill>
              </a:rPr>
              <a:t>target</a:t>
            </a:r>
            <a:endParaRPr lang="en-IN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98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9" y="332510"/>
            <a:ext cx="11530940" cy="63176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chemeClr val="bg1"/>
                </a:solidFill>
              </a:rPr>
              <a:t>Start attacking on 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Attacker checks out that, is there any user connected to the targeted </a:t>
            </a:r>
            <a:r>
              <a:rPr lang="en-IN" b="1" dirty="0" smtClean="0">
                <a:solidFill>
                  <a:schemeClr val="bg1"/>
                </a:solidFill>
              </a:rPr>
              <a:t>Wi-Fi</a:t>
            </a:r>
            <a:endParaRPr lang="en-IN" b="1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For the attack </a:t>
            </a:r>
            <a:r>
              <a:rPr lang="en-IN" b="1" dirty="0" smtClean="0">
                <a:solidFill>
                  <a:schemeClr val="bg1"/>
                </a:solidFill>
              </a:rPr>
              <a:t>at least </a:t>
            </a:r>
            <a:r>
              <a:rPr lang="en-IN" b="1" dirty="0">
                <a:solidFill>
                  <a:schemeClr val="bg1"/>
                </a:solidFill>
              </a:rPr>
              <a:t>one active user is required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Then Attacker perform deauthentication attack on the </a:t>
            </a:r>
            <a:r>
              <a:rPr lang="en-IN" b="1" dirty="0" smtClean="0">
                <a:solidFill>
                  <a:schemeClr val="bg1"/>
                </a:solidFill>
              </a:rPr>
              <a:t>Wi-Fi</a:t>
            </a:r>
            <a:endParaRPr lang="en-IN" b="1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In this attack, Attacker breaks the connection b/w the AP(Access point i.e. Router </a:t>
            </a:r>
            <a:r>
              <a:rPr lang="en-IN" b="1" dirty="0" smtClean="0">
                <a:solidFill>
                  <a:schemeClr val="bg1"/>
                </a:solidFill>
              </a:rPr>
              <a:t>etc.) </a:t>
            </a:r>
            <a:r>
              <a:rPr lang="en-IN" b="1" dirty="0">
                <a:solidFill>
                  <a:schemeClr val="bg1"/>
                </a:solidFill>
              </a:rPr>
              <a:t>and the user, and when the user again tries to connect to the AP, the attacker captures the packets. And generate a </a:t>
            </a:r>
            <a:r>
              <a:rPr lang="en-IN" b="1" dirty="0" smtClean="0">
                <a:solidFill>
                  <a:schemeClr val="bg1"/>
                </a:solidFill>
              </a:rPr>
              <a:t>handshake </a:t>
            </a:r>
            <a:r>
              <a:rPr lang="en-IN" b="1" dirty="0">
                <a:solidFill>
                  <a:schemeClr val="bg1"/>
                </a:solidFill>
              </a:rPr>
              <a:t>file which contains all the captured packets.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  Now when the Attacker have the handshake file, he starts </a:t>
            </a:r>
            <a:r>
              <a:rPr lang="en-IN" b="1" dirty="0" smtClean="0">
                <a:solidFill>
                  <a:schemeClr val="bg1"/>
                </a:solidFill>
              </a:rPr>
              <a:t>cracking the password by comparing </a:t>
            </a:r>
            <a:r>
              <a:rPr lang="en-IN" b="1" dirty="0">
                <a:solidFill>
                  <a:schemeClr val="bg1"/>
                </a:solidFill>
              </a:rPr>
              <a:t>it with the default wordlist file i.e. Rock4you.txt. The captured packets are like conditions to form a password.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chemeClr val="bg1"/>
                </a:solidFill>
              </a:rPr>
              <a:t>And after </a:t>
            </a:r>
            <a:r>
              <a:rPr lang="en-IN" sz="2800" b="1" dirty="0" smtClean="0">
                <a:solidFill>
                  <a:schemeClr val="bg1"/>
                </a:solidFill>
              </a:rPr>
              <a:t>comparing, </a:t>
            </a:r>
            <a:r>
              <a:rPr lang="en-IN" sz="2800" b="1" dirty="0">
                <a:solidFill>
                  <a:schemeClr val="bg1"/>
                </a:solidFill>
              </a:rPr>
              <a:t>Attacker obtain the desired password</a:t>
            </a:r>
            <a:r>
              <a:rPr lang="en-IN" sz="2800" b="1" dirty="0" smtClean="0">
                <a:solidFill>
                  <a:schemeClr val="bg1"/>
                </a:solidFill>
              </a:rPr>
              <a:t>. </a:t>
            </a:r>
            <a:endParaRPr lang="en-IN" sz="2800" b="1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b="1" dirty="0">
              <a:solidFill>
                <a:schemeClr val="bg1"/>
              </a:solidFill>
            </a:endParaRP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42018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66554" y="2967335"/>
            <a:ext cx="34588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049914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346</TotalTime>
  <Words>387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Wingdings</vt:lpstr>
      <vt:lpstr>Wingdings 3</vt:lpstr>
      <vt:lpstr>Slice</vt:lpstr>
      <vt:lpstr>PowerPoint Presentation</vt:lpstr>
      <vt:lpstr>PowerPoint Presentation</vt:lpstr>
      <vt:lpstr>Let’s start </vt:lpstr>
      <vt:lpstr>PowerPoint Presentation</vt:lpstr>
      <vt:lpstr>PowerPoint Presentation</vt:lpstr>
      <vt:lpstr>What is the Principle?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28</cp:revision>
  <dcterms:created xsi:type="dcterms:W3CDTF">2020-08-15T06:34:58Z</dcterms:created>
  <dcterms:modified xsi:type="dcterms:W3CDTF">2020-10-10T05:46:16Z</dcterms:modified>
</cp:coreProperties>
</file>